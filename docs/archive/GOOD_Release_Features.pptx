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56" r:id="rId3"/>
    <p:sldId id="1065" r:id="rId4"/>
    <p:sldId id="1064" r:id="rId5"/>
    <p:sldId id="1066" r:id="rId6"/>
    <p:sldId id="10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535"/>
    <a:srgbClr val="012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30"/>
    <p:restoredTop sz="96197"/>
  </p:normalViewPr>
  <p:slideViewPr>
    <p:cSldViewPr snapToGrid="0">
      <p:cViewPr varScale="1">
        <p:scale>
          <a:sx n="215" d="100"/>
          <a:sy n="215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EFAD8-9614-984A-B4B6-6DE9D254548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487C0-6BFF-0D40-8D51-16FCA4FA1C6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90052" y="154323"/>
            <a:ext cx="11811896" cy="6549353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084" y="360381"/>
            <a:ext cx="11008659" cy="3447825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497" y="3972541"/>
            <a:ext cx="11008658" cy="252507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21" y="136526"/>
            <a:ext cx="11865685" cy="75636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821" y="1029412"/>
            <a:ext cx="11274014" cy="5463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Al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21" y="136526"/>
            <a:ext cx="11865685" cy="75636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822" y="1029412"/>
            <a:ext cx="11284772" cy="5463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Al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21" y="136526"/>
            <a:ext cx="11865685" cy="75636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820" y="1029412"/>
            <a:ext cx="11284773" cy="546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2122" y="136526"/>
            <a:ext cx="5841404" cy="75636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822" y="1029412"/>
            <a:ext cx="11284772" cy="5463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074484" y="136526"/>
            <a:ext cx="0" cy="7563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6117517" y="136526"/>
            <a:ext cx="5902358" cy="75636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pPr lvl="0"/>
            <a:r>
              <a:rPr lang="en-US" dirty="0"/>
              <a:t>Click to edit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21" y="136526"/>
            <a:ext cx="11865685" cy="75636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Al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21" y="136526"/>
            <a:ext cx="11865685" cy="75636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Al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21" y="136526"/>
            <a:ext cx="11865685" cy="75636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372932" y="6492875"/>
            <a:ext cx="11446136" cy="365125"/>
          </a:xfrm>
        </p:spPr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18" y="365125"/>
            <a:ext cx="8970682" cy="57453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9768114" y="0"/>
            <a:ext cx="2423886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18" y="365125"/>
            <a:ext cx="8970682" cy="57453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9768114" y="0"/>
            <a:ext cx="2423886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 userDrawn="1"/>
        </p:nvSpPr>
        <p:spPr>
          <a:xfrm rot="5400000">
            <a:off x="0" y="0"/>
            <a:ext cx="1501422" cy="1501422"/>
          </a:xfrm>
          <a:prstGeom prst="rtTriangle">
            <a:avLst/>
          </a:prstGeom>
          <a:solidFill>
            <a:srgbClr val="02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 userDrawn="1"/>
        </p:nvSpPr>
        <p:spPr>
          <a:xfrm rot="16200000">
            <a:off x="10690578" y="5356578"/>
            <a:ext cx="1501422" cy="1501422"/>
          </a:xfrm>
          <a:prstGeom prst="rtTriangle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1366900" y="6415219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E99F97F-D2AA-4A44-A7DF-643BF6A7B911}" type="slidenum">
              <a:rPr lang="en-US" smtClean="0">
                <a:solidFill>
                  <a:schemeClr val="tx1"/>
                </a:solidFill>
              </a:rPr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470428"/>
            <a:ext cx="10515600" cy="1030994"/>
          </a:xfrm>
        </p:spPr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66754"/>
            <a:ext cx="5181600" cy="451020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66754"/>
            <a:ext cx="5181600" cy="451020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829A6B-169F-6745-BAE0-B1BC9BC8B419}" type="slidenum">
              <a:rPr lang="en-US" smtClean="0"/>
            </a:fld>
            <a:endParaRPr lang="en-US"/>
          </a:p>
        </p:txBody>
      </p:sp>
      <p:sp>
        <p:nvSpPr>
          <p:cNvPr id="8" name="Right Triangle 7"/>
          <p:cNvSpPr/>
          <p:nvPr userDrawn="1"/>
        </p:nvSpPr>
        <p:spPr>
          <a:xfrm rot="5400000">
            <a:off x="0" y="0"/>
            <a:ext cx="1501422" cy="1501422"/>
          </a:xfrm>
          <a:prstGeom prst="rtTriangle">
            <a:avLst/>
          </a:prstGeom>
          <a:solidFill>
            <a:srgbClr val="02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ight Triangle 8"/>
          <p:cNvSpPr/>
          <p:nvPr userDrawn="1"/>
        </p:nvSpPr>
        <p:spPr>
          <a:xfrm rot="16200000">
            <a:off x="10690578" y="5356578"/>
            <a:ext cx="1501422" cy="1501422"/>
          </a:xfrm>
          <a:prstGeom prst="rtTriangle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366900" y="641521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E99F97F-D2AA-4A44-A7DF-643BF6A7B911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470428"/>
            <a:ext cx="10515600" cy="1030994"/>
          </a:xfrm>
        </p:spPr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6518" y="365125"/>
            <a:ext cx="114461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6518" y="1825625"/>
            <a:ext cx="114461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518" y="6356350"/>
            <a:ext cx="11446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" altLang="en-US" dirty="0"/>
              <a:t>Release Version of the GOOD Model Package</a:t>
            </a:r>
            <a:endParaRPr lang="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" altLang="en-US" dirty="0"/>
              <a:t>May 8</a:t>
            </a:r>
            <a:r>
              <a:rPr lang="en-US" dirty="0"/>
              <a:t>, 2</a:t>
            </a:r>
            <a:r>
              <a:rPr lang="en-US" altLang="en-US" dirty="0"/>
              <a:t>025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GOOD </a:t>
            </a:r>
            <a:r>
              <a:rPr lang="" altLang="en-US"/>
              <a:t>Philosophy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" altLang="en-US" sz="2800"/>
              <a:t>GOOD is a maximally modular and minimally determined package for power system optimal dispatch and capacity expansion.</a:t>
            </a:r>
            <a:endParaRPr lang="" altLang="en-US" sz="280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" altLang="en-US" sz="2800"/>
              <a:t>GOOD object structure is minimal and intuitive.</a:t>
            </a:r>
            <a:endParaRPr lang="" altLang="en-US" sz="280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" altLang="en-US" sz="2800"/>
              <a:t>GOOD core packages provide minimal functionality. </a:t>
            </a:r>
            <a:endParaRPr lang="" altLang="en-US" sz="280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 sz="2800">
                <a:sym typeface="+mn-ea"/>
              </a:rPr>
              <a:t>GOOD </a:t>
            </a:r>
            <a:r>
              <a:rPr lang="" altLang="en-US" sz="2800"/>
              <a:t>relies on a minimal set of package dependencies.</a:t>
            </a:r>
            <a:endParaRPr lang="" altLang="en-US" sz="280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" altLang="en-US" sz="2800"/>
              <a:t>GOOD package dependenies are to well established and maintained packages.</a:t>
            </a:r>
            <a:endParaRPr lang="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" altLang="en-US" sz="2800"/>
          </a:p>
          <a:p>
            <a:pPr marL="457200" lvl="1" indent="0">
              <a:buFont typeface="Arial" panose="020B0604020202020204" pitchFamily="34" charset="0"/>
              <a:buNone/>
            </a:pPr>
            <a:endParaRPr lang="" altLang="en-US" sz="2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GOOD Ecosystem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" altLang="en-US" sz="2400"/>
              <a:t>The GOOD Ecosystem will consist of three components, each of which will be packaged separately</a:t>
            </a:r>
            <a:endParaRPr lang="" altLang="en-US" sz="2400"/>
          </a:p>
          <a:p>
            <a:endParaRPr lang="" altLang="en-US" sz="2400"/>
          </a:p>
          <a:p>
            <a:r>
              <a:rPr lang="" altLang="en-US" sz="2400"/>
              <a:t>1. GOOD Model: Tightly scoped mathematical model built in Python using Numpy, NetworkX, and Pyomo. GOOD Model will contain all mathematical operations such as clustering.</a:t>
            </a:r>
            <a:endParaRPr lang="" altLang="en-US" sz="2400"/>
          </a:p>
          <a:p>
            <a:r>
              <a:rPr lang="" altLang="en-US" sz="2400"/>
              <a:t>2. GOOD Datasets: Code for pulling datasets from Zenodo (or equivalent) data repository and processing them for running with GOOD Model.</a:t>
            </a:r>
            <a:endParaRPr lang="" altLang="en-US" sz="2400"/>
          </a:p>
          <a:p>
            <a:r>
              <a:rPr lang="" altLang="en-US" sz="2400"/>
              <a:t>3. GOOD Visualizations: Code for producing standard and stylized visualizations of model inputs and outputs.</a:t>
            </a:r>
            <a:endParaRPr lang="" altLang="en-US" sz="2400"/>
          </a:p>
          <a:p>
            <a:endParaRPr lang="" altLang="en-US" sz="2400"/>
          </a:p>
          <a:p>
            <a:r>
              <a:rPr lang="" altLang="en-US" sz="2400"/>
              <a:t>Expansion of datasets and visualizations is encouraged. Expansion of GOOD Model is not.</a:t>
            </a:r>
            <a:endParaRPr lang="" alt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Style Guide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" altLang="en-US" sz="2800"/>
              <a:t>We follow the style guidance of PEP-8</a:t>
            </a:r>
            <a:endParaRPr lang="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" altLang="en-US" sz="2100"/>
              <a:t>This will be enforced through pre-commit hooks</a:t>
            </a:r>
            <a:endParaRPr lang="" altLang="en-US" sz="210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" altLang="en-US" sz="2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" altLang="en-US" sz="2800"/>
              <a:t>All Graph iterables are dictionaries (no lists, arrays etc.)</a:t>
            </a:r>
            <a:endParaRPr lang="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" altLang="en-US" sz="2100"/>
              <a:t>So we will cange the assets list to and assets dict and the policies list to a policies dict</a:t>
            </a:r>
            <a:endParaRPr lang="" altLang="en-US" sz="21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" altLang="en-US" sz="2100"/>
              <a:t>This is because our basic form is a NetworkX graph which operates like a nested dictionary and we want all levels of nesting to operate consistently.</a:t>
            </a:r>
            <a:endParaRPr lang="" altLang="en-US" sz="210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" altLang="en-US" sz="2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" altLang="en-US" sz="2800"/>
              <a:t>Convention on naming Pyomo objects:</a:t>
            </a:r>
            <a:endParaRPr lang="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" altLang="en-US" sz="2100"/>
              <a:t>We name pyomo objects in such a manner that overlap in handles is not possible.</a:t>
            </a:r>
            <a:endParaRPr lang="" altLang="en-US" sz="21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" altLang="en-US" sz="2100"/>
              <a:t>Convention is “{object handle}::{name}” for nodal objects</a:t>
            </a:r>
            <a:endParaRPr lang="" altLang="en-US" sz="21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" altLang="en-US" sz="2100"/>
              <a:t>Since no two Nodes or edges can have the same name this will be guaranteed</a:t>
            </a:r>
            <a:endParaRPr lang="" altLang="en-US" sz="2795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" altLang="en-US" sz="280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" alt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Network</a:t>
            </a:r>
            <a:endParaRPr lang="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algn="ctr"/>
            <a:fld id="{1BF1138D-7D71-FE41-B991-6418830CC11A}" type="slidenum">
              <a:rPr lang="en-US" smtClean="0"/>
            </a:fld>
            <a:endParaRPr lang="en-US" dirty="0"/>
          </a:p>
        </p:txBody>
      </p:sp>
      <p:pic>
        <p:nvPicPr>
          <p:cNvPr id="5" name="Content Placeholder 4" descr="network_clas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2120" y="1794510"/>
            <a:ext cx="11273790" cy="3932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012751"/>
      </a:dk2>
      <a:lt2>
        <a:srgbClr val="FEFFFF"/>
      </a:lt2>
      <a:accent1>
        <a:srgbClr val="023165"/>
      </a:accent1>
      <a:accent2>
        <a:srgbClr val="FEC535"/>
      </a:accent2>
      <a:accent3>
        <a:srgbClr val="054BBA"/>
      </a:accent3>
      <a:accent4>
        <a:srgbClr val="A9D991"/>
      </a:accent4>
      <a:accent5>
        <a:srgbClr val="265F41"/>
      </a:accent5>
      <a:accent6>
        <a:srgbClr val="F08A2A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WPS Presentation</Application>
  <PresentationFormat>Widescreen</PresentationFormat>
  <Paragraphs>53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Century Gothic</vt:lpstr>
      <vt:lpstr>FreeSans</vt:lpstr>
      <vt:lpstr>Arial Black</vt:lpstr>
      <vt:lpstr>Calibri</vt:lpstr>
      <vt:lpstr>微软雅黑</vt:lpstr>
      <vt:lpstr>Arial Unicode MS</vt:lpstr>
      <vt:lpstr>Times New Roman</vt:lpstr>
      <vt:lpstr>Office Theme</vt:lpstr>
      <vt:lpstr>2025 VTO NOFO Project Idea</vt:lpstr>
      <vt:lpstr>GOOD Ecosystem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T Jenn</dc:creator>
  <cp:lastModifiedBy>aaron</cp:lastModifiedBy>
  <cp:revision>60</cp:revision>
  <dcterms:created xsi:type="dcterms:W3CDTF">2025-05-08T20:34:37Z</dcterms:created>
  <dcterms:modified xsi:type="dcterms:W3CDTF">2025-05-08T20:34:37Z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